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645920"/>
            <a:ext cx="105156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000" b="1">
                <a:solidFill>
                  <a:srgbClr val="FFFFFF"/>
                </a:solidFill>
              </a:rPr>
              <a:t>Transaction Anomaly Detection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156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200" b="1">
                <a:solidFill>
                  <a:srgbClr val="60A5FA"/>
                </a:solidFill>
              </a:rPr>
              <a:t>ML Pipeline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457200" y="3520440"/>
            <a:ext cx="11274552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822960" y="3657600"/>
            <a:ext cx="10515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3F4F6"/>
                </a:solidFill>
              </a:rPr>
              <a:t>Built with Claude Code  ·  2026-04-16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4297680"/>
            <a:ext cx="10515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IsolationForest  ·  F1=0.8966  ·  1,000 transactions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5943600"/>
            <a:ext cx="73152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94A3B8"/>
                </a:solidFill>
              </a:rPr>
              <a:t>https://github.com/heramb-analytics/claude-code-ml-pipeline-20260415-214802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The Problem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481328"/>
            <a:ext cx="164592" cy="164592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77240" y="137160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1,000 transactions with 10.2% anomaly rate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2258568"/>
            <a:ext cx="164592" cy="164592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77240" y="214884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Manual fraud review averages 4–8 hours per cycle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3035808"/>
            <a:ext cx="164592" cy="164592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292608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Goal: automated real-time anomaly scoring at sub-second latency</a:t>
            </a:r>
          </a:p>
        </p:txBody>
      </p:sp>
      <p:sp>
        <p:nvSpPr>
          <p:cNvPr id="10" name="Rectangle 9"/>
          <p:cNvSpPr/>
          <p:nvPr/>
        </p:nvSpPr>
        <p:spPr>
          <a:xfrm>
            <a:off x="457200" y="3813048"/>
            <a:ext cx="164592" cy="164592"/>
          </a:xfrm>
          <a:prstGeom prst="rect">
            <a:avLst/>
          </a:prstGeom>
          <a:solidFill>
            <a:srgbClr val="F47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3703320"/>
            <a:ext cx="10515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FFFFFF"/>
                </a:solidFill>
              </a:rPr>
              <a:t>Challenge: highly imbalanced classes, varying merchant profiles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57200" y="4389120"/>
            <a:ext cx="25603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594360" y="44622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0A5FA"/>
                </a:solidFill>
              </a:rPr>
              <a:t>1,000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94360" y="5138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Total Transactions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291840" y="4389120"/>
            <a:ext cx="25603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3429000" y="44622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10.2%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429000" y="5138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Anomaly Rate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126480" y="4389120"/>
            <a:ext cx="25603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263640" y="44622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C55E"/>
                </a:solidFill>
              </a:rPr>
              <a:t>6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263640" y="5138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Categories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8961120" y="4389120"/>
            <a:ext cx="25603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F4721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098280" y="446227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47218"/>
                </a:solidFill>
              </a:rPr>
              <a:t>50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098280" y="513892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Merchants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 Overview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01_amount_distrib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486400" cy="4114800"/>
          </a:xfrm>
          <a:prstGeom prst="rect">
            <a:avLst/>
          </a:prstGeom>
        </p:spPr>
      </p:pic>
      <p:pic>
        <p:nvPicPr>
          <p:cNvPr id="5" name="Picture 4" descr="04_anomaly_rate_by_categor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280160"/>
            <a:ext cx="5486400" cy="4114800"/>
          </a:xfrm>
          <a:prstGeom prst="rect">
            <a:avLst/>
          </a:prstGeom>
        </p:spPr>
      </p:pic>
      <p:sp>
        <p:nvSpPr>
          <p:cNvPr id="6" name="TextBox 5"/>
          <p:cNvSpPr txBox="1"/>
          <p:nvPr/>
        </p:nvSpPr>
        <p:spPr>
          <a:xfrm>
            <a:off x="365760" y="5577840"/>
            <a:ext cx="11430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F4F6"/>
                </a:solidFill>
              </a:rPr>
              <a:t>1,000 rows  ·  19 features  ·  10.2% anomaly rate  ·  6 merchant categories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Data Pipeline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03_hourly_volu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303520" cy="3840480"/>
          </a:xfrm>
          <a:prstGeom prst="rect">
            <a:avLst/>
          </a:prstGeom>
        </p:spPr>
      </p:pic>
      <p:sp>
        <p:nvSpPr>
          <p:cNvPr id="5" name="Rectangle 4"/>
          <p:cNvSpPr/>
          <p:nvPr/>
        </p:nvSpPr>
        <p:spPr>
          <a:xfrm>
            <a:off x="5943600" y="1325880"/>
            <a:ext cx="306324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89320" y="1344168"/>
            <a:ext cx="30175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Quality Check</a:t>
            </a:r>
          </a:p>
        </p:txBody>
      </p:sp>
      <p:sp>
        <p:nvSpPr>
          <p:cNvPr id="7" name="Rectangle 6"/>
          <p:cNvSpPr/>
          <p:nvPr/>
        </p:nvSpPr>
        <p:spPr>
          <a:xfrm>
            <a:off x="9052560" y="1325880"/>
            <a:ext cx="1051560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098280" y="1344168"/>
            <a:ext cx="100583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10149840" y="1325880"/>
            <a:ext cx="1234439" cy="347472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95560" y="1344168"/>
            <a:ext cx="1188719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FFFFFF"/>
                </a:solidFill>
              </a:rPr>
              <a:t>Detail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1691640"/>
            <a:ext cx="3063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5989320" y="172821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Non-empty DataFrame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052560" y="1691640"/>
            <a:ext cx="1051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9098280" y="1728216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10149840" y="1691640"/>
            <a:ext cx="1234439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195560" y="172821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1,000 rows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943600" y="2075688"/>
            <a:ext cx="306324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989320" y="211226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Required columns present</a:t>
            </a:r>
          </a:p>
        </p:txBody>
      </p:sp>
      <p:sp>
        <p:nvSpPr>
          <p:cNvPr id="19" name="Rectangle 18"/>
          <p:cNvSpPr/>
          <p:nvPr/>
        </p:nvSpPr>
        <p:spPr>
          <a:xfrm>
            <a:off x="9052560" y="2075688"/>
            <a:ext cx="10515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098280" y="2112264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0149840" y="2075688"/>
            <a:ext cx="1234439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10195560" y="2112264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6 columns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943600" y="2459736"/>
            <a:ext cx="3063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5989320" y="249631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No duplicate IDs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052560" y="2459736"/>
            <a:ext cx="1051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098280" y="249631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10149840" y="2459736"/>
            <a:ext cx="1234439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10195560" y="249631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 dupes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943600" y="2843784"/>
            <a:ext cx="306324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5989320" y="288036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Amount positive</a:t>
            </a:r>
          </a:p>
        </p:txBody>
      </p:sp>
      <p:sp>
        <p:nvSpPr>
          <p:cNvPr id="31" name="Rectangle 30"/>
          <p:cNvSpPr/>
          <p:nvPr/>
        </p:nvSpPr>
        <p:spPr>
          <a:xfrm>
            <a:off x="9052560" y="2843784"/>
            <a:ext cx="10515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9098280" y="288036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33" name="Rectangle 32"/>
          <p:cNvSpPr/>
          <p:nvPr/>
        </p:nvSpPr>
        <p:spPr>
          <a:xfrm>
            <a:off x="10149840" y="2843784"/>
            <a:ext cx="1234439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10195560" y="288036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all positive</a:t>
            </a:r>
          </a:p>
        </p:txBody>
      </p:sp>
      <p:sp>
        <p:nvSpPr>
          <p:cNvPr id="35" name="Rectangle 34"/>
          <p:cNvSpPr/>
          <p:nvPr/>
        </p:nvSpPr>
        <p:spPr>
          <a:xfrm>
            <a:off x="5943600" y="3227832"/>
            <a:ext cx="3063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5989320" y="326440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No null amounts</a:t>
            </a:r>
          </a:p>
        </p:txBody>
      </p:sp>
      <p:sp>
        <p:nvSpPr>
          <p:cNvPr id="37" name="Rectangle 36"/>
          <p:cNvSpPr/>
          <p:nvPr/>
        </p:nvSpPr>
        <p:spPr>
          <a:xfrm>
            <a:off x="9052560" y="3227832"/>
            <a:ext cx="1051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9098280" y="3264408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39" name="Rectangle 38"/>
          <p:cNvSpPr/>
          <p:nvPr/>
        </p:nvSpPr>
        <p:spPr>
          <a:xfrm>
            <a:off x="10149840" y="3227832"/>
            <a:ext cx="1234439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10195560" y="326440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 nulls</a:t>
            </a:r>
          </a:p>
        </p:txBody>
      </p:sp>
      <p:sp>
        <p:nvSpPr>
          <p:cNvPr id="41" name="Rectangle 40"/>
          <p:cNvSpPr/>
          <p:nvPr/>
        </p:nvSpPr>
        <p:spPr>
          <a:xfrm>
            <a:off x="5943600" y="3611880"/>
            <a:ext cx="306324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5989320" y="3648456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Binary anomaly labels</a:t>
            </a:r>
          </a:p>
        </p:txBody>
      </p:sp>
      <p:sp>
        <p:nvSpPr>
          <p:cNvPr id="43" name="Rectangle 42"/>
          <p:cNvSpPr/>
          <p:nvPr/>
        </p:nvSpPr>
        <p:spPr>
          <a:xfrm>
            <a:off x="9052560" y="3611880"/>
            <a:ext cx="10515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9098280" y="3648456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45" name="Rectangle 44"/>
          <p:cNvSpPr/>
          <p:nvPr/>
        </p:nvSpPr>
        <p:spPr>
          <a:xfrm>
            <a:off x="10149840" y="3611880"/>
            <a:ext cx="1234439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10195560" y="3648456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100% valid</a:t>
            </a:r>
          </a:p>
        </p:txBody>
      </p:sp>
      <p:sp>
        <p:nvSpPr>
          <p:cNvPr id="47" name="Rectangle 46"/>
          <p:cNvSpPr/>
          <p:nvPr/>
        </p:nvSpPr>
        <p:spPr>
          <a:xfrm>
            <a:off x="5943600" y="3995928"/>
            <a:ext cx="3063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5989320" y="4032504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Valid timestamps</a:t>
            </a:r>
          </a:p>
        </p:txBody>
      </p:sp>
      <p:sp>
        <p:nvSpPr>
          <p:cNvPr id="49" name="Rectangle 48"/>
          <p:cNvSpPr/>
          <p:nvPr/>
        </p:nvSpPr>
        <p:spPr>
          <a:xfrm>
            <a:off x="9052560" y="3995928"/>
            <a:ext cx="1051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TextBox 49"/>
          <p:cNvSpPr txBox="1"/>
          <p:nvPr/>
        </p:nvSpPr>
        <p:spPr>
          <a:xfrm>
            <a:off x="9098280" y="4032504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51" name="Rectangle 50"/>
          <p:cNvSpPr/>
          <p:nvPr/>
        </p:nvSpPr>
        <p:spPr>
          <a:xfrm>
            <a:off x="10149840" y="3995928"/>
            <a:ext cx="1234439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10195560" y="4032504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auto-fixed</a:t>
            </a:r>
          </a:p>
        </p:txBody>
      </p:sp>
      <p:sp>
        <p:nvSpPr>
          <p:cNvPr id="53" name="Rectangle 52"/>
          <p:cNvSpPr/>
          <p:nvPr/>
        </p:nvSpPr>
        <p:spPr>
          <a:xfrm>
            <a:off x="5943600" y="4379976"/>
            <a:ext cx="306324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5989320" y="4416552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No null categories</a:t>
            </a:r>
          </a:p>
        </p:txBody>
      </p:sp>
      <p:sp>
        <p:nvSpPr>
          <p:cNvPr id="55" name="Rectangle 54"/>
          <p:cNvSpPr/>
          <p:nvPr/>
        </p:nvSpPr>
        <p:spPr>
          <a:xfrm>
            <a:off x="9052560" y="4379976"/>
            <a:ext cx="10515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TextBox 55"/>
          <p:cNvSpPr txBox="1"/>
          <p:nvPr/>
        </p:nvSpPr>
        <p:spPr>
          <a:xfrm>
            <a:off x="9098280" y="4416552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57" name="Rectangle 56"/>
          <p:cNvSpPr/>
          <p:nvPr/>
        </p:nvSpPr>
        <p:spPr>
          <a:xfrm>
            <a:off x="10149840" y="4379976"/>
            <a:ext cx="1234439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10195560" y="4416552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0 nulls</a:t>
            </a:r>
          </a:p>
        </p:txBody>
      </p:sp>
      <p:sp>
        <p:nvSpPr>
          <p:cNvPr id="59" name="Rectangle 58"/>
          <p:cNvSpPr/>
          <p:nvPr/>
        </p:nvSpPr>
        <p:spPr>
          <a:xfrm>
            <a:off x="5943600" y="4764024"/>
            <a:ext cx="306324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5989320" y="4800600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Amount in range</a:t>
            </a:r>
          </a:p>
        </p:txBody>
      </p:sp>
      <p:sp>
        <p:nvSpPr>
          <p:cNvPr id="61" name="Rectangle 60"/>
          <p:cNvSpPr/>
          <p:nvPr/>
        </p:nvSpPr>
        <p:spPr>
          <a:xfrm>
            <a:off x="9052560" y="4764024"/>
            <a:ext cx="1051560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TextBox 61"/>
          <p:cNvSpPr txBox="1"/>
          <p:nvPr/>
        </p:nvSpPr>
        <p:spPr>
          <a:xfrm>
            <a:off x="9098280" y="4800600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63" name="Rectangle 62"/>
          <p:cNvSpPr/>
          <p:nvPr/>
        </p:nvSpPr>
        <p:spPr>
          <a:xfrm>
            <a:off x="10149840" y="4764024"/>
            <a:ext cx="1234439" cy="347472"/>
          </a:xfrm>
          <a:prstGeom prst="rect">
            <a:avLst/>
          </a:prstGeom>
          <a:solidFill>
            <a:srgbClr val="1E293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10195560" y="4800600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max $20k</a:t>
            </a:r>
          </a:p>
        </p:txBody>
      </p:sp>
      <p:sp>
        <p:nvSpPr>
          <p:cNvPr id="65" name="Rectangle 64"/>
          <p:cNvSpPr/>
          <p:nvPr/>
        </p:nvSpPr>
        <p:spPr>
          <a:xfrm>
            <a:off x="5943600" y="5148072"/>
            <a:ext cx="306324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5989320" y="5184648"/>
            <a:ext cx="30175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Anomaly rate 1–50%</a:t>
            </a:r>
          </a:p>
        </p:txBody>
      </p:sp>
      <p:sp>
        <p:nvSpPr>
          <p:cNvPr id="67" name="Rectangle 66"/>
          <p:cNvSpPr/>
          <p:nvPr/>
        </p:nvSpPr>
        <p:spPr>
          <a:xfrm>
            <a:off x="9052560" y="5148072"/>
            <a:ext cx="1051560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TextBox 67"/>
          <p:cNvSpPr txBox="1"/>
          <p:nvPr/>
        </p:nvSpPr>
        <p:spPr>
          <a:xfrm>
            <a:off x="9098280" y="5184648"/>
            <a:ext cx="10058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22C55E"/>
                </a:solidFill>
              </a:rPr>
              <a:t>✓ PASS</a:t>
            </a:r>
          </a:p>
        </p:txBody>
      </p:sp>
      <p:sp>
        <p:nvSpPr>
          <p:cNvPr id="69" name="Rectangle 68"/>
          <p:cNvSpPr/>
          <p:nvPr/>
        </p:nvSpPr>
        <p:spPr>
          <a:xfrm>
            <a:off x="10149840" y="5148072"/>
            <a:ext cx="1234439" cy="347472"/>
          </a:xfrm>
          <a:prstGeom prst="rect">
            <a:avLst/>
          </a:prstGeom>
          <a:solidFill>
            <a:srgbClr val="11182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TextBox 69"/>
          <p:cNvSpPr txBox="1"/>
          <p:nvPr/>
        </p:nvSpPr>
        <p:spPr>
          <a:xfrm>
            <a:off x="10195560" y="5184648"/>
            <a:ext cx="118871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</a:rPr>
              <a:t>10.2%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Model Performance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Rectangle 3"/>
          <p:cNvSpPr/>
          <p:nvPr/>
        </p:nvSpPr>
        <p:spPr>
          <a:xfrm>
            <a:off x="457200" y="1371600"/>
            <a:ext cx="25603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94360" y="144475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60A5FA"/>
                </a:solidFill>
              </a:rPr>
              <a:t>0.9286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2121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Precision</a:t>
            </a:r>
          </a:p>
        </p:txBody>
      </p:sp>
      <p:sp>
        <p:nvSpPr>
          <p:cNvPr id="7" name="Rectangle 6"/>
          <p:cNvSpPr/>
          <p:nvPr/>
        </p:nvSpPr>
        <p:spPr>
          <a:xfrm>
            <a:off x="3200400" y="1371600"/>
            <a:ext cx="25603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FACC1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3337560" y="144475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FACC15"/>
                </a:solidFill>
              </a:rPr>
              <a:t>0.8667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337560" y="2121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Recall</a:t>
            </a:r>
          </a:p>
        </p:txBody>
      </p:sp>
      <p:sp>
        <p:nvSpPr>
          <p:cNvPr id="10" name="Rectangle 9"/>
          <p:cNvSpPr/>
          <p:nvPr/>
        </p:nvSpPr>
        <p:spPr>
          <a:xfrm>
            <a:off x="5943600" y="1371600"/>
            <a:ext cx="2560320" cy="1371600"/>
          </a:xfrm>
          <a:prstGeom prst="rect">
            <a:avLst/>
          </a:prstGeom>
          <a:solidFill>
            <a:srgbClr val="1F2937"/>
          </a:solidFill>
          <a:ln w="19050">
            <a:solidFill>
              <a:srgbClr val="22C55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080760" y="1444752"/>
            <a:ext cx="22860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800" b="1">
                <a:solidFill>
                  <a:srgbClr val="22C55E"/>
                </a:solidFill>
              </a:rPr>
              <a:t>0.8966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080760" y="2121408"/>
            <a:ext cx="2286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FFFFF"/>
                </a:solidFill>
              </a:rPr>
              <a:t>F1 Score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13716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</a:rPr>
              <a:t>Algorithm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686800" y="17373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IsolationForest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686800" y="228600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F3F4F6"/>
                </a:solidFill>
              </a:rPr>
              <a:t>Train samples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686800" y="2651760"/>
            <a:ext cx="32004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>
                <a:solidFill>
                  <a:srgbClr val="FFFFFF"/>
                </a:solidFill>
              </a:rPr>
              <a:t>700</a:t>
            </a:r>
          </a:p>
        </p:txBody>
      </p:sp>
      <p:pic>
        <p:nvPicPr>
          <p:cNvPr id="17" name="Picture 16" descr="05_log_amount_vs_zscor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3017520"/>
            <a:ext cx="7315200" cy="3474720"/>
          </a:xfrm>
          <a:prstGeom prst="rect">
            <a:avLst/>
          </a:prstGeom>
        </p:spPr>
      </p:pic>
      <p:sp>
        <p:nvSpPr>
          <p:cNvPr id="18" name="TextBox 17"/>
          <p:cNvSpPr txBox="1"/>
          <p:nvPr/>
        </p:nvSpPr>
        <p:spPr>
          <a:xfrm>
            <a:off x="36576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>
                <a:solidFill>
                  <a:srgbClr val="F3F4F6"/>
                </a:solidFill>
              </a:rPr>
              <a:t>Algorithm: IsolationForest  ·  Trained on 700 samples  ·  70/15/15 stratified split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Live Dashboard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01_dashboard_hom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11430000" cy="512064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65760" y="6492240"/>
            <a:ext cx="114300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0">
                <a:solidFill>
                  <a:srgbClr val="F3F4F6"/>
                </a:solidFill>
              </a:rPr>
              <a:t>Accessible at http://localhost:8000  ·  POST /predict · GET /health · GET /metrics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293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>
                <a:solidFill>
                  <a:srgbClr val="FFFFFF"/>
                </a:solidFill>
              </a:rPr>
              <a:t>Automated Quality Gates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457200" y="1143000"/>
            <a:ext cx="11274552" cy="0"/>
          </a:xfrm>
          <a:prstGeom prst="line">
            <a:avLst/>
          </a:prstGeom>
          <a:ln w="19050">
            <a:solidFill>
              <a:srgbClr val="60A5FA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03_prediction_resul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280160"/>
            <a:ext cx="5669280" cy="4297680"/>
          </a:xfrm>
          <a:prstGeom prst="rect">
            <a:avLst/>
          </a:prstGeom>
        </p:spPr>
      </p:pic>
      <p:pic>
        <p:nvPicPr>
          <p:cNvPr id="5" name="Picture 4" descr="04_swagger_doc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217920" y="1280160"/>
            <a:ext cx="5577840" cy="4297680"/>
          </a:xfrm>
          <a:prstGeom prst="rect">
            <a:avLst/>
          </a:prstGeom>
        </p:spPr>
      </p:pic>
      <p:sp>
        <p:nvSpPr>
          <p:cNvPr id="6" name="Rectangle 5"/>
          <p:cNvSpPr/>
          <p:nvPr/>
        </p:nvSpPr>
        <p:spPr>
          <a:xfrm>
            <a:off x="365760" y="5806440"/>
            <a:ext cx="11430000" cy="64008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5870448"/>
            <a:ext cx="1106424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2C55E"/>
                </a:solidFill>
              </a:rPr>
              <a:t>8 unit tests passed  ·  6 Playwright E2E tests passed  ·  14 / 14 total  ·  0 failures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3A8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65760" cy="6858000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365760"/>
            <a:ext cx="105156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22C55E"/>
                </a:solidFill>
              </a:rPr>
              <a:t>PIPELINE COMPLETE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457200" y="1325880"/>
            <a:ext cx="11274552" cy="0"/>
          </a:xfrm>
          <a:prstGeom prst="line">
            <a:avLst/>
          </a:prstGeom>
          <a:ln w="19050">
            <a:solidFill>
              <a:srgbClr val="22C55E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ectangle 4"/>
          <p:cNvSpPr/>
          <p:nvPr/>
        </p:nvSpPr>
        <p:spPr>
          <a:xfrm>
            <a:off x="822960" y="1591056"/>
            <a:ext cx="128016" cy="128016"/>
          </a:xfrm>
          <a:prstGeom prst="rect">
            <a:avLst/>
          </a:prstGeom>
          <a:solidFill>
            <a:srgbClr val="60A5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051560" y="146304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60A5FA"/>
                </a:solidFill>
              </a:rPr>
              <a:t>Model     : IsolationForest — F1=0.8966  ·  Precision=0.9286  ·  Recall=0.8667</a:t>
            </a:r>
          </a:p>
        </p:txBody>
      </p:sp>
      <p:sp>
        <p:nvSpPr>
          <p:cNvPr id="7" name="Rectangle 6"/>
          <p:cNvSpPr/>
          <p:nvPr/>
        </p:nvSpPr>
        <p:spPr>
          <a:xfrm>
            <a:off x="822960" y="2121408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51560" y="199339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API       : http://localhost:8000  (POST /predict, GET /health, GET /metrics)</a:t>
            </a:r>
          </a:p>
        </p:txBody>
      </p:sp>
      <p:sp>
        <p:nvSpPr>
          <p:cNvPr id="9" name="Rectangle 8"/>
          <p:cNvSpPr/>
          <p:nvPr/>
        </p:nvSpPr>
        <p:spPr>
          <a:xfrm>
            <a:off x="822960" y="2651760"/>
            <a:ext cx="128016" cy="128016"/>
          </a:xfrm>
          <a:prstGeom prst="rect">
            <a:avLst/>
          </a:prstGeom>
          <a:solidFill>
            <a:srgbClr val="93C5F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51560" y="252374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93C5FD"/>
                </a:solidFill>
              </a:rPr>
              <a:t>GitHub    : https://github.com/heramb-analytics/claude-code-ml-pipeline-20260415-214802</a:t>
            </a:r>
          </a:p>
        </p:txBody>
      </p:sp>
      <p:sp>
        <p:nvSpPr>
          <p:cNvPr id="11" name="Rectangle 10"/>
          <p:cNvSpPr/>
          <p:nvPr/>
        </p:nvSpPr>
        <p:spPr>
          <a:xfrm>
            <a:off x="822960" y="3182112"/>
            <a:ext cx="128016" cy="128016"/>
          </a:xfrm>
          <a:prstGeom prst="rect">
            <a:avLst/>
          </a:prstGeom>
          <a:solidFill>
            <a:srgbClr val="FACC1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" y="3054096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ACC15"/>
                </a:solidFill>
              </a:rPr>
              <a:t>JIRA      : 6 tickets (TAD-86 → TAD-91)  ·  Epic TAD-85  ·  Sprint 1  ·  Project TAD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" y="3712464"/>
            <a:ext cx="128016" cy="128016"/>
          </a:xfrm>
          <a:prstGeom prst="rect">
            <a:avLst/>
          </a:prstGeom>
          <a:solidFill>
            <a:srgbClr val="FBBF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1051560" y="3584448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BBF24"/>
                </a:solidFill>
              </a:rPr>
              <a:t>Confluence: 11-section tech doc  ·  CR space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22960" y="4242816"/>
            <a:ext cx="128016" cy="128016"/>
          </a:xfrm>
          <a:prstGeom prst="rect">
            <a:avLst/>
          </a:prstGeom>
          <a:solidFill>
            <a:srgbClr val="22C5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051560" y="4114800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22C55E"/>
                </a:solidFill>
              </a:rPr>
              <a:t>Tests     : 8 unit + 6 Playwright e2e = 14/14 passed  ·  6 screenshots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822960" y="4773168"/>
            <a:ext cx="128016" cy="128016"/>
          </a:xfrm>
          <a:prstGeom prst="rect">
            <a:avLst/>
          </a:prstGeom>
          <a:solidFill>
            <a:srgbClr val="F4721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" y="4645152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47218"/>
                </a:solidFill>
              </a:rPr>
              <a:t>Scheduler : Nightly retrain @ 02:00  ·  Drift check every 6h</a:t>
            </a:r>
          </a:p>
        </p:txBody>
      </p:sp>
      <p:sp>
        <p:nvSpPr>
          <p:cNvPr id="19" name="Rectangle 18"/>
          <p:cNvSpPr/>
          <p:nvPr/>
        </p:nvSpPr>
        <p:spPr>
          <a:xfrm>
            <a:off x="822960" y="5303520"/>
            <a:ext cx="128016" cy="12801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51560" y="5175504"/>
            <a:ext cx="10515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FFFFFF"/>
                </a:solidFill>
              </a:rPr>
              <a:t>Built by  : Claude Code (claude-sonnet-4-6)  ·  Fully autonomous  ·  0 human interventions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