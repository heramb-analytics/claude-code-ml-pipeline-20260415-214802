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77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Transaction Anomaly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377CF6"/>
                </a:solidFill>
              </a:rPr>
              <a:t>Detection ML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BFCCF0"/>
                </a:solidFill>
              </a:rPr>
              <a:t>Built with Claude Code  ·  April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828800" cy="822960"/>
          </a:xfrm>
          <a:prstGeom prst="rect">
            <a:avLst/>
          </a:prstGeom>
          <a:solidFill>
            <a:srgbClr val="2D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983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0.667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BFCCF0"/>
                </a:solidFill>
              </a:rPr>
              <a:t>F1 Score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937760"/>
            <a:ext cx="1828800" cy="822960"/>
          </a:xfrm>
          <a:prstGeom prst="rect">
            <a:avLst/>
          </a:prstGeom>
          <a:solidFill>
            <a:srgbClr val="2D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4983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0.833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349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BFCCF0"/>
                </a:solidFill>
              </a:rPr>
              <a:t>ROC-AUC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937760"/>
            <a:ext cx="1828800" cy="822960"/>
          </a:xfrm>
          <a:prstGeom prst="rect">
            <a:avLst/>
          </a:prstGeom>
          <a:solidFill>
            <a:srgbClr val="2D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4983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5349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BFCCF0"/>
                </a:solidFill>
              </a:rPr>
              <a:t>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4864" cy="502920"/>
          </a:xfrm>
          <a:prstGeom prst="rect">
            <a:avLst/>
          </a:prstGeom>
          <a:solidFill>
            <a:srgbClr val="377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</a:rPr>
              <a:t>5 transactions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8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6B7280"/>
                </a:solidFill>
              </a:rPr>
              <a:t>with 40% anomaly rate requiring manual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502920"/>
          </a:xfrm>
          <a:prstGeom prst="rect">
            <a:avLst/>
          </a:prstGeom>
          <a:solidFill>
            <a:srgbClr val="377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</a:rPr>
              <a:t>Manual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6B7280"/>
                </a:solidFill>
              </a:rPr>
              <a:t>takes hours per review cycle at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80560"/>
            <a:ext cx="54864" cy="502920"/>
          </a:xfrm>
          <a:prstGeom prst="rect">
            <a:avLst/>
          </a:prstGeom>
          <a:solidFill>
            <a:srgbClr val="377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3891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</a:rPr>
              <a:t>Goal: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73168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6B7280"/>
                </a:solidFill>
              </a:rPr>
              <a:t>automated real-time anomaly scoring via REST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Data Overview</a:t>
            </a:r>
          </a:p>
        </p:txBody>
      </p:sp>
      <p:pic>
        <p:nvPicPr>
          <p:cNvPr id="5" name="Picture 4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394960" cy="4114800"/>
          </a:xfrm>
          <a:prstGeom prst="rect">
            <a:avLst/>
          </a:prstGeom>
        </p:spPr>
      </p:pic>
      <p:pic>
        <p:nvPicPr>
          <p:cNvPr id="6" name="Picture 5" descr="02_feature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760720"/>
            <a:ext cx="121889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5 rows  ·  9 features  ·  40% anomaly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Data Pipeline</a:t>
            </a:r>
          </a:p>
        </p:txBody>
      </p:sp>
      <p:pic>
        <p:nvPicPr>
          <p:cNvPr id="5" name="Picture 4" descr="03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02920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1325880"/>
            <a:ext cx="329184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137160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Check 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80" y="1325880"/>
            <a:ext cx="12801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137160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0" y="1325880"/>
            <a:ext cx="12801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52760" y="137160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Rows Affected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673352"/>
            <a:ext cx="3291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7190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Required columns present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0" y="167335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71907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167335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52760" y="171907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084832"/>
            <a:ext cx="329184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13055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No duplicate IDs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0" y="208483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13055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208483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60" y="213055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496312"/>
            <a:ext cx="3291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254203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Amount positive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249631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54203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249631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254203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907792"/>
            <a:ext cx="329184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95351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Amount range (&lt;1M)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6880" y="290779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295351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290779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60" y="295351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319272"/>
            <a:ext cx="3291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336499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is_anomaly binary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26880" y="331927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336499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331927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52760" y="336499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3730752"/>
            <a:ext cx="329184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No nulls in key cols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26880" y="373075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600" y="377647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07040" y="373075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52760" y="377647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4142232"/>
            <a:ext cx="3291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18795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Timestamp parseable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26880" y="414223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72600" y="418795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0" y="414223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52760" y="418795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4553712"/>
            <a:ext cx="329184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80760" y="459943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Category non-empty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26880" y="455371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72600" y="459943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07040" y="455371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52760" y="459943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4965192"/>
            <a:ext cx="3291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80760" y="501091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merchant_id non-null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496519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72600" y="501091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07040" y="4965192"/>
            <a:ext cx="1280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52760" y="501091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5376672"/>
            <a:ext cx="329184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80760" y="542239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Both classes present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26880" y="537667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72600" y="542239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</a:rPr>
              <a:t>✅ Passed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07040" y="5376672"/>
            <a:ext cx="1280160" cy="40233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52760" y="542239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</a:rPr>
              <a:t>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Model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011680" cy="13716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059669"/>
                </a:solidFill>
              </a:rPr>
              <a:t>0.6667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F1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371600"/>
            <a:ext cx="2011680" cy="13716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46304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377CF6"/>
                </a:solidFill>
              </a:rPr>
              <a:t>0.8333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488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371600"/>
            <a:ext cx="2011680" cy="13716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6304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</a:rPr>
              <a:t>1.0000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1488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Precision</a:t>
            </a:r>
          </a:p>
        </p:txBody>
      </p:sp>
      <p:pic>
        <p:nvPicPr>
          <p:cNvPr id="14" name="Picture 13" descr="04_amou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926080"/>
            <a:ext cx="6858000" cy="34747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498079" y="1371600"/>
            <a:ext cx="4297680" cy="5029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146304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</a:rPr>
              <a:t>Best Hyperparameters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01168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Algorithm:       IsolationForest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5146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n_estimators:    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01752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max_samples:     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52044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contamination:   0.1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02336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Train samples:  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52628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Recall:          0.5000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Live Dashboard</a:t>
            </a:r>
          </a:p>
        </p:txBody>
      </p:sp>
      <p:pic>
        <p:nvPicPr>
          <p:cNvPr id="5" name="Picture 4" descr="01_dashboard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35508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377CF6"/>
                </a:solidFill>
              </a:rPr>
              <a:t>http://localhost:8000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Automated Quality Gates</a:t>
            </a:r>
          </a:p>
        </p:txBody>
      </p:sp>
      <p:pic>
        <p:nvPicPr>
          <p:cNvPr id="5" name="Picture 4" descr="03_predic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577840" cy="4114800"/>
          </a:xfrm>
          <a:prstGeom prst="rect">
            <a:avLst/>
          </a:prstGeom>
        </p:spPr>
      </p:pic>
      <p:pic>
        <p:nvPicPr>
          <p:cNvPr id="6" name="Picture 5" descr="04_swagger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57784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486400"/>
            <a:ext cx="54864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8 unit tests passed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486400"/>
            <a:ext cx="5486400" cy="594360"/>
          </a:xfrm>
          <a:prstGeom prst="rect">
            <a:avLst/>
          </a:prstGeom>
          <a:solidFill>
            <a:srgbClr val="377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5532120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6 Playwright E2E tests passed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PIPELINE COMPLETE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5608"/>
            <a:ext cx="64008" cy="502920"/>
          </a:xfrm>
          <a:prstGeom prst="rect">
            <a:avLst/>
          </a:prstGeom>
          <a:solidFill>
            <a:srgbClr val="377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377CF6"/>
                </a:solidFill>
              </a:rPr>
              <a:t>Model: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3258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IsolationForest — F1: 0.667 · ROC-AUC: 0.833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58568"/>
            <a:ext cx="64008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59669"/>
                </a:solidFill>
              </a:rPr>
              <a:t>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48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http://localhost:8000 · FastAPI + Tailwind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81528"/>
            <a:ext cx="64008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7180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59E0B"/>
                </a:solidFill>
              </a:rPr>
              <a:t>GitHub: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9718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heramb-analytics/claude-code-ml-pipeline-20260415-214802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04488"/>
            <a:ext cx="64008" cy="5029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9476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A78BFA"/>
                </a:solidFill>
              </a:rPr>
              <a:t>JIRA: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794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6 tickets · Epic TAD-64 · Sprint 1 · Project TAD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27448"/>
            <a:ext cx="64008" cy="502920"/>
          </a:xfrm>
          <a:prstGeom prst="rect">
            <a:avLst/>
          </a:prstGeom>
          <a:solidFill>
            <a:srgbClr val="FB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1772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B923A"/>
                </a:solidFill>
              </a:rPr>
              <a:t>Confluence: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6177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11-section page in CR space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50408"/>
            <a:ext cx="64008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59669"/>
                </a:solidFill>
              </a:rPr>
              <a:t>Tests: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54406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8 unit + 6 Playwright e2e — all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3A3B8"/>
                </a:solidFill>
              </a:rPr>
              <a:t>Built by Claude Code (claude-sonnet-4-6) · 2026-04-16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